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1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4EA73-B39C-5495-E2D1-A638F761EB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90558ED-7F2C-A2CC-F5DE-2C3E90118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1C5178-FC59-F5A6-0A4B-5264B200A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CD3A-7C2A-4D9C-8153-6BB1E65187FF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4B6633-5BC0-A058-CF96-27C5697E0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D8C811B-A964-0AEF-D219-1F8489AF2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0CE7-0AA0-41B4-8629-02E04B7DE3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7116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08563F-56D6-C225-B831-1B572325E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FECBEB-7491-3EB5-0A2A-56960CB3B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8F3512-AA86-837B-FB22-9B90EC3FC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CD3A-7C2A-4D9C-8153-6BB1E65187FF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5D6119-2C6A-B690-B39C-B21F0F6D6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D99EFF-4CF8-2EFE-BBD2-B2041A1D0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0CE7-0AA0-41B4-8629-02E04B7DE3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6910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EE73C7-4A98-9EF6-2886-0F67CA118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FFD0ADD-64C1-D4A4-7E2E-3187C3A71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382E41-BE41-938A-6CB6-AA6EBFE63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CD3A-7C2A-4D9C-8153-6BB1E65187FF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F3344D-9916-B7DB-CBFE-E08BDA3C7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674190-751E-929C-D5F7-637D5137E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0CE7-0AA0-41B4-8629-02E04B7DE3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2716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084414-1A41-9926-2A5B-7203F6EC0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2CFFAE-66BD-42C9-6DA0-5E16F491B4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0E4B053-6DEE-DDA0-DE78-F6567A5B03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9C74B9C-5474-49DA-258E-3A3736839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CD3A-7C2A-4D9C-8153-6BB1E65187FF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95611D6-DFB5-B8E2-3171-01BE4BB80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8AD02F-1512-E8E0-D1D9-5052778F4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0CE7-0AA0-41B4-8629-02E04B7DE3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3652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40BC3-3F3C-33C3-2BD5-EF47E59FD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5B00FBE-0411-2208-2EEB-E975E4082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D73C35D-9277-4809-B710-C79D50EC98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D405C38-C2EF-A95E-8345-53C546D811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C95340A-AA5A-77A1-EF87-A118FE152A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5F22FD4-E2FC-464D-2646-AC2E73A47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CD3A-7C2A-4D9C-8153-6BB1E65187FF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3BB5687-3903-60B7-0B21-5673A26FC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9149492-BB07-702F-F817-3BC55D1A6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0CE7-0AA0-41B4-8629-02E04B7DE3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4683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1EF1BD-C714-D45F-C052-E23B7A90D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43571CD-5CDB-37B5-B7F6-A5C673454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CD3A-7C2A-4D9C-8153-6BB1E65187FF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FDCB6EB-4517-3BFC-999C-D8CF3DCED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11FD7E-B44E-B55B-20F7-3F8C7AA3E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0CE7-0AA0-41B4-8629-02E04B7DE3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5241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0F69C4A-25CF-EDA4-5E08-1687E5EF5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CD3A-7C2A-4D9C-8153-6BB1E65187FF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E6F16FF-92F4-7F4B-A7A2-606836B27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BBC033F-AB72-BF44-3641-C1F8C4D84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0CE7-0AA0-41B4-8629-02E04B7DE3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3624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C13F0D-13E5-D64A-4A2F-C076E4369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23FFC9-F4BE-2C2B-AC2A-550B9234C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46DD047-11E9-C8C1-435E-0E6CF4481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8CA8197-82EA-032D-4B58-0DBDBE0EA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CD3A-7C2A-4D9C-8153-6BB1E65187FF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0AE7DBE-84BF-FF30-150F-107CFF61B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1061A3-CA19-A793-FCC9-711B01646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0CE7-0AA0-41B4-8629-02E04B7DE3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7384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A2EE51-46BB-EC51-A345-07CBA9099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8E8EE7C-3A53-BC48-298F-B8C52162C5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52BCBC9-690E-07CC-ABB1-5A02C50ECF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CDAAD8D-F294-E858-B182-55E02C801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CD3A-7C2A-4D9C-8153-6BB1E65187FF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9558DB5-F0AF-0D18-F5DD-DA355DD24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20E2437-47FC-F7CF-F5AF-54559D606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0CE7-0AA0-41B4-8629-02E04B7DE3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2094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AEA77B-5FC4-E78D-E7BA-DEF54E295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587AC7A-6116-65C4-45A8-1AB63363B3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35312A-EF79-C8D3-50DA-8CB8E18B1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CD3A-7C2A-4D9C-8153-6BB1E65187FF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0F1DCD-B550-C285-4ABC-26E0A18E6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C67626-2F37-5D36-B65A-47072B252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0CE7-0AA0-41B4-8629-02E04B7DE3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3960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20FA746-05A6-8934-73B4-0B7E188606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7A2FC7A-81E6-3B04-7DB1-98CCCBB63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1F0690-0034-4ED9-C7C7-AA5B8B69B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CD3A-7C2A-4D9C-8153-6BB1E65187FF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5F9B3C-1347-629E-C48D-E67E50A98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BCEA6C-E998-34DD-E676-6EB54DEDD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0CE7-0AA0-41B4-8629-02E04B7DE3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3907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B56BB40-F23D-91DC-48A4-2778F7412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AD6F62-F128-723F-DDE3-B9FEDF364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D5173F-492D-D238-516A-59ECD78A27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0CD3A-7C2A-4D9C-8153-6BB1E65187FF}" type="datetimeFigureOut">
              <a:rPr lang="pt-BR" smtClean="0"/>
              <a:t>08/10/2025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34B977-A336-C88A-2B1E-E4257E8EC3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E8BFB2-3BF2-1CEA-CD14-0D29393D9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FC0CE7-0AA0-41B4-8629-02E04B7DE3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8226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EABE999F-3F38-46D4-013A-2A05A28815F3}"/>
              </a:ext>
            </a:extLst>
          </p:cNvPr>
          <p:cNvSpPr txBox="1"/>
          <p:nvPr/>
        </p:nvSpPr>
        <p:spPr>
          <a:xfrm>
            <a:off x="2857501" y="2757488"/>
            <a:ext cx="5672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600" dirty="0"/>
              <a:t>LISTA de Exercícios 3</a:t>
            </a:r>
          </a:p>
        </p:txBody>
      </p:sp>
    </p:spTree>
    <p:extLst>
      <p:ext uri="{BB962C8B-B14F-4D97-AF65-F5344CB8AC3E}">
        <p14:creationId xmlns:p14="http://schemas.microsoft.com/office/powerpoint/2010/main" val="273764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B528-6845-4005-134B-6F2DD4E5B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6E1762D3-9AA7-5723-EBF4-E824E703497B}"/>
              </a:ext>
            </a:extLst>
          </p:cNvPr>
          <p:cNvCxnSpPr>
            <a:cxnSpLocks/>
          </p:cNvCxnSpPr>
          <p:nvPr/>
        </p:nvCxnSpPr>
        <p:spPr>
          <a:xfrm>
            <a:off x="0" y="815821"/>
            <a:ext cx="12192000" cy="0"/>
          </a:xfrm>
          <a:prstGeom prst="line">
            <a:avLst/>
          </a:prstGeom>
          <a:ln w="1016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F663F2C-91D1-AB78-FF40-B6DAE67B5DCA}"/>
              </a:ext>
            </a:extLst>
          </p:cNvPr>
          <p:cNvSpPr txBox="1"/>
          <p:nvPr/>
        </p:nvSpPr>
        <p:spPr>
          <a:xfrm>
            <a:off x="1086682" y="145211"/>
            <a:ext cx="67908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0" i="0" dirty="0" err="1">
                <a:solidFill>
                  <a:srgbClr val="0070C0"/>
                </a:solidFill>
                <a:effectLst/>
                <a:latin typeface="Arial Black" panose="020B0A04020102020204" pitchFamily="34" charset="0"/>
              </a:rPr>
              <a:t>Atmosphere</a:t>
            </a:r>
            <a:r>
              <a:rPr lang="pt-BR" sz="2400" b="0" i="0" dirty="0">
                <a:solidFill>
                  <a:srgbClr val="0070C0"/>
                </a:solidFill>
                <a:effectLst/>
                <a:latin typeface="Arial Black" panose="020B0A04020102020204" pitchFamily="34" charset="0"/>
              </a:rPr>
              <a:t> </a:t>
            </a:r>
            <a:r>
              <a:rPr lang="pt-BR" sz="2400" b="0" i="0" dirty="0" err="1">
                <a:solidFill>
                  <a:srgbClr val="0070C0"/>
                </a:solidFill>
                <a:effectLst/>
                <a:latin typeface="Arial Black" panose="020B0A04020102020204" pitchFamily="34" charset="0"/>
              </a:rPr>
              <a:t>Numerical</a:t>
            </a:r>
            <a:r>
              <a:rPr lang="pt-BR" sz="2400" b="0" i="0" dirty="0">
                <a:solidFill>
                  <a:srgbClr val="0070C0"/>
                </a:solidFill>
                <a:effectLst/>
                <a:latin typeface="Arial Black" panose="020B0A04020102020204" pitchFamily="34" charset="0"/>
              </a:rPr>
              <a:t> </a:t>
            </a:r>
            <a:r>
              <a:rPr lang="pt-BR" sz="2400" b="0" i="0" dirty="0" err="1">
                <a:solidFill>
                  <a:srgbClr val="0070C0"/>
                </a:solidFill>
                <a:effectLst/>
                <a:latin typeface="Arial Black" panose="020B0A04020102020204" pitchFamily="34" charset="0"/>
              </a:rPr>
              <a:t>Modeling</a:t>
            </a:r>
            <a:r>
              <a:rPr lang="pt-BR" sz="2400" b="0" i="0" dirty="0">
                <a:solidFill>
                  <a:srgbClr val="0070C0"/>
                </a:solidFill>
                <a:effectLst/>
                <a:latin typeface="Arial Black" panose="020B0A04020102020204" pitchFamily="34" charset="0"/>
              </a:rPr>
              <a:t> </a:t>
            </a:r>
            <a:r>
              <a:rPr lang="pt-BR" sz="2400" b="0" i="0" dirty="0" err="1">
                <a:solidFill>
                  <a:srgbClr val="0070C0"/>
                </a:solidFill>
                <a:effectLst/>
                <a:latin typeface="Arial Black" panose="020B0A04020102020204" pitchFamily="34" charset="0"/>
              </a:rPr>
              <a:t>Group</a:t>
            </a:r>
            <a:endParaRPr lang="pt-BR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0C103228-C5E4-F9E7-610A-CB11454F16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83" y="42259"/>
            <a:ext cx="730488" cy="7103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72BEDE2E-7789-DF34-A7F1-5CF8725A06E5}"/>
                  </a:ext>
                </a:extLst>
              </p:cNvPr>
              <p:cNvSpPr txBox="1"/>
              <p:nvPr/>
            </p:nvSpPr>
            <p:spPr>
              <a:xfrm>
                <a:off x="412921" y="2236545"/>
                <a:ext cx="7465185" cy="4041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1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𝜁</m:t>
                              </m:r>
                            </m:e>
                            <m:sup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r>
                            <a:rPr lang="pt-BR" sz="1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𝑐𝑜𝑠</m:t>
                          </m:r>
                          <m:d>
                            <m:dPr>
                              <m:ctrlP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den>
                      </m:f>
                      <m:f>
                        <m:fPr>
                          <m:ctrlPr>
                            <a:rPr lang="pt-B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̅"/>
                              <m:ctrlP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</m:acc>
                        </m:num>
                        <m:den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den>
                      </m:f>
                      <m:f>
                        <m:fPr>
                          <m:ctrlPr>
                            <a:rPr lang="pt-B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𝜁</m:t>
                              </m:r>
                            </m:e>
                            <m:sup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  <m:d>
                            <m:d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den>
                      </m:f>
                      <m:f>
                        <m:fPr>
                          <m:ctrlPr>
                            <a:rPr lang="pt-B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̅"/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</m:acc>
                        </m:num>
                        <m:den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f>
                        <m:fPr>
                          <m:ctrlPr>
                            <a:rPr lang="pt-B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𝜁</m:t>
                              </m:r>
                            </m:e>
                            <m:sup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den>
                      </m:f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  <m:d>
                            <m:d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den>
                      </m:f>
                      <m:f>
                        <m:fPr>
                          <m:ctrlPr>
                            <a:rPr lang="pt-B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p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den>
                      </m:f>
                      <m:f>
                        <m:fPr>
                          <m:ctrlPr>
                            <a:rPr lang="pt-B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̅"/>
                              <m:ctrlPr>
                                <a:rPr lang="pt-BR" sz="1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𝜁</m:t>
                              </m:r>
                            </m:e>
                          </m:acc>
                        </m:num>
                        <m:den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r>
                        <a:rPr lang="pt-B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  <m:d>
                            <m:d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den>
                      </m:f>
                      <m:f>
                        <m:fPr>
                          <m:ctrlPr>
                            <a:rPr lang="pt-B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p>
                              <m:r>
                                <a:rPr lang="pt-BR" sz="12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f>
                        <m:fPr>
                          <m:ctrlPr>
                            <a:rPr lang="pt-B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ctrlPr>
                                <a:rPr lang="pt-BR" sz="1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𝜁</m:t>
                                  </m:r>
                                </m:e>
                              </m:acc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num>
                        <m:den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den>
                      </m:f>
                      <m:r>
                        <a:rPr lang="pt-B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pt-BR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</m:e>
                        <m:sup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sSup>
                        <m:sSupPr>
                          <m:ctrlPr>
                            <a:rPr lang="pt-B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t-B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pt-B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pt-BR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</m:e>
                        <m:sup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       (1)</m:t>
                      </m:r>
                    </m:oMath>
                  </m:oMathPara>
                </a14:m>
                <a:endParaRPr lang="pt-BR" sz="1200" dirty="0"/>
              </a:p>
            </p:txBody>
          </p:sp>
        </mc:Choice>
        <mc:Fallback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72BEDE2E-7789-DF34-A7F1-5CF8725A0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21" y="2236545"/>
                <a:ext cx="7465185" cy="404150"/>
              </a:xfrm>
              <a:prstGeom prst="rect">
                <a:avLst/>
              </a:prstGeom>
              <a:blipFill>
                <a:blip r:embed="rId3"/>
                <a:stretch>
                  <a:fillRect l="-82" r="-327" b="-1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2562D6C1-1341-5794-86F8-1C275A935CA5}"/>
                  </a:ext>
                </a:extLst>
              </p:cNvPr>
              <p:cNvSpPr txBox="1"/>
              <p:nvPr/>
            </p:nvSpPr>
            <p:spPr>
              <a:xfrm>
                <a:off x="8621840" y="1816807"/>
                <a:ext cx="3039615" cy="13230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pt-B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pt-BR" sz="1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1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  <m:r>
                                            <a:rPr lang="pt-BR" sz="1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pt-BR" sz="1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1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𝜆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1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pt-BR" sz="1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pt-B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pt-BR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1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𝛿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1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𝜆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pt-BR" sz="1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pt-B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pt-B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pt-BR" sz="1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1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  <m:r>
                                            <a:rPr lang="pt-BR" sz="1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pt-BR" sz="1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1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𝜙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1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pt-BR" sz="12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pt-B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pt-BR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1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𝛿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1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𝜙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pt-BR" sz="12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&gt;1</m:t>
                              </m:r>
                            </m:e>
                            <m:e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sSub>
                                <m:sSubPr>
                                  <m:ctrlP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pt-B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pt-BR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pt-BR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p>
                                                <m:sSupPr>
                                                  <m:ctrlPr>
                                                    <a:rPr lang="pt-BR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pt-BR" sz="12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pt-BR" sz="12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𝜆</m:t>
                                                      </m:r>
                                                      <m:r>
                                                        <a:rPr lang="pt-BR" sz="12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sSub>
                                                        <m:sSubPr>
                                                          <m:ctrlPr>
                                                            <a:rPr lang="pt-BR" sz="12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pt-BR" sz="12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𝜆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pt-BR" sz="12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0</m:t>
                                                          </m:r>
                                                        </m:sub>
                                                      </m:sSub>
                                                    </m:e>
                                                  </m:d>
                                                </m:e>
                                                <m:sup>
                                                  <m:r>
                                                    <a:rPr lang="pt-BR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p>
                                            </m:num>
                                            <m:den>
                                              <m:sSup>
                                                <m:sSupPr>
                                                  <m:ctrlPr>
                                                    <a:rPr lang="pt-BR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pt-BR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pt-BR" sz="12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pt-BR" sz="12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𝛿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pt-BR" sz="12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𝜆</m:t>
                                                          </m:r>
                                                        </m:sub>
                                                      </m:sSub>
                                                    </m:e>
                                                  </m:d>
                                                </m:e>
                                                <m:sup>
                                                  <m:r>
                                                    <a:rPr lang="pt-BR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p>
                                            </m:den>
                                          </m:f>
                                          <m:r>
                                            <a:rPr lang="pt-BR" sz="1200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f>
                                            <m:fPr>
                                              <m:ctrlPr>
                                                <a:rPr lang="pt-BR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p>
                                                <m:sSupPr>
                                                  <m:ctrlPr>
                                                    <a:rPr lang="pt-BR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pt-BR" sz="12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pt-BR" sz="12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𝜙</m:t>
                                                      </m:r>
                                                      <m:r>
                                                        <a:rPr lang="pt-BR" sz="12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sSub>
                                                        <m:sSubPr>
                                                          <m:ctrlPr>
                                                            <a:rPr lang="pt-BR" sz="12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pt-BR" sz="12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𝜙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pt-BR" sz="12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0</m:t>
                                                          </m:r>
                                                        </m:sub>
                                                      </m:sSub>
                                                    </m:e>
                                                  </m:d>
                                                </m:e>
                                                <m:sup>
                                                  <m:r>
                                                    <a:rPr lang="pt-BR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p>
                                            </m:num>
                                            <m:den>
                                              <m:sSup>
                                                <m:sSupPr>
                                                  <m:ctrlPr>
                                                    <a:rPr lang="pt-BR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pt-BR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pt-BR" sz="12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pt-BR" sz="12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𝛿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pt-BR" sz="12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𝜙</m:t>
                                                          </m:r>
                                                        </m:sub>
                                                      </m:sSub>
                                                    </m:e>
                                                  </m:d>
                                                </m:e>
                                                <m:sup>
                                                  <m:r>
                                                    <a:rPr lang="pt-BR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p>
                                            </m:den>
                                          </m:f>
                                        </m:e>
                                      </m:d>
                                    </m:e>
                                  </m:rad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pt-BR" sz="1200" dirty="0"/>
              </a:p>
            </p:txBody>
          </p:sp>
        </mc:Choice>
        <mc:Fallback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2562D6C1-1341-5794-86F8-1C275A935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1840" y="1816807"/>
                <a:ext cx="3039615" cy="1323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9B1BC0DD-8991-8133-1710-FFBEE18E493A}"/>
                  </a:ext>
                </a:extLst>
              </p:cNvPr>
              <p:cNvSpPr txBox="1"/>
              <p:nvPr/>
            </p:nvSpPr>
            <p:spPr>
              <a:xfrm>
                <a:off x="1257526" y="5072582"/>
                <a:ext cx="61264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=300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9B1BC0DD-8991-8133-1710-FFBEE18E4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526" y="5072582"/>
                <a:ext cx="612648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A9ED4084-9DF7-373D-8ACB-D0E814CC90AF}"/>
                  </a:ext>
                </a:extLst>
              </p:cNvPr>
              <p:cNvSpPr txBox="1"/>
              <p:nvPr/>
            </p:nvSpPr>
            <p:spPr>
              <a:xfrm>
                <a:off x="1257526" y="5537273"/>
                <a:ext cx="61264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=−3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A9ED4084-9DF7-373D-8ACB-D0E814CC9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526" y="5537273"/>
                <a:ext cx="6126480" cy="369332"/>
              </a:xfrm>
              <a:prstGeom prst="rect">
                <a:avLst/>
              </a:prstGeom>
              <a:blipFill>
                <a:blip r:embed="rId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67A25329-5298-DDC3-2FAF-87A21C78491F}"/>
                  </a:ext>
                </a:extLst>
              </p:cNvPr>
              <p:cNvSpPr txBox="1"/>
              <p:nvPr/>
            </p:nvSpPr>
            <p:spPr>
              <a:xfrm>
                <a:off x="693599" y="3216009"/>
                <a:ext cx="19543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𝑔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m:rPr>
                              <m:sty m:val="p"/>
                            </m:r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67A25329-5298-DDC3-2FAF-87A21C7849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599" y="3216009"/>
                <a:ext cx="1954381" cy="276999"/>
              </a:xfrm>
              <a:prstGeom prst="rect">
                <a:avLst/>
              </a:prstGeom>
              <a:blipFill>
                <a:blip r:embed="rId7"/>
                <a:stretch>
                  <a:fillRect l="-2500" t="-4444" b="-3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aixaDeTexto 12">
            <a:extLst>
              <a:ext uri="{FF2B5EF4-FFF2-40B4-BE49-F238E27FC236}">
                <a16:creationId xmlns:a16="http://schemas.microsoft.com/office/drawing/2014/main" id="{F8598755-6D51-1A4D-0E51-86F4204E733A}"/>
              </a:ext>
            </a:extLst>
          </p:cNvPr>
          <p:cNvSpPr txBox="1"/>
          <p:nvPr/>
        </p:nvSpPr>
        <p:spPr>
          <a:xfrm>
            <a:off x="247074" y="1024767"/>
            <a:ext cx="108556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Analise a anomalia da função de corrente e do geopotencial para o aquecimento produzindo na região Amazônica</a:t>
            </a:r>
          </a:p>
          <a:p>
            <a:r>
              <a:rPr lang="pt-BR" dirty="0"/>
              <a:t>Use o modelo Abaixo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7CFAC6B-5CB2-39FC-1072-68C8306ECBB3}"/>
              </a:ext>
            </a:extLst>
          </p:cNvPr>
          <p:cNvSpPr txBox="1"/>
          <p:nvPr/>
        </p:nvSpPr>
        <p:spPr>
          <a:xfrm>
            <a:off x="462227" y="4612341"/>
            <a:ext cx="6114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Modifique a fonte de aquecimento R para a região amazônica? 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81CB0B3-4578-3A23-7F68-93FF6A67ACC0}"/>
              </a:ext>
            </a:extLst>
          </p:cNvPr>
          <p:cNvSpPr txBox="1"/>
          <p:nvPr/>
        </p:nvSpPr>
        <p:spPr>
          <a:xfrm>
            <a:off x="379016" y="6042179"/>
            <a:ext cx="11282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Analise os resultados e mostre quais as regiões influenciadas pelo aquecimento devido a convecção na região Amazônica influencia</a:t>
            </a:r>
          </a:p>
        </p:txBody>
      </p:sp>
    </p:spTree>
    <p:extLst>
      <p:ext uri="{BB962C8B-B14F-4D97-AF65-F5344CB8AC3E}">
        <p14:creationId xmlns:p14="http://schemas.microsoft.com/office/powerpoint/2010/main" val="36413331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8" baseType="lpstr">
      <vt:lpstr>Arial</vt:lpstr>
      <vt:lpstr>Arial Black</vt:lpstr>
      <vt:lpstr>Calibri</vt:lpstr>
      <vt:lpstr>Calibri Light</vt:lpstr>
      <vt:lpstr>Cambria Math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kubota</dc:creator>
  <cp:lastModifiedBy>paulo kubota</cp:lastModifiedBy>
  <cp:revision>1</cp:revision>
  <dcterms:created xsi:type="dcterms:W3CDTF">2025-10-08T13:18:25Z</dcterms:created>
  <dcterms:modified xsi:type="dcterms:W3CDTF">2025-10-08T13:19:03Z</dcterms:modified>
</cp:coreProperties>
</file>